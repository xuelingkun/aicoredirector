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4"/>
  </p:notesMasterIdLst>
  <p:handoutMasterIdLst>
    <p:handoutMasterId r:id="rId5"/>
  </p:handoutMasterIdLst>
  <p:sldIdLst>
    <p:sldId id="291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59" d="100"/>
          <a:sy n="59" d="100"/>
        </p:scale>
        <p:origin x="1305" y="4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tags" Target="../tags/tag16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Relationship Id="rId6" Type="http://schemas.openxmlformats.org/officeDocument/2006/relationships/tags" Target="../tags/tag57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tags" Target="../tags/tag81.xml"/><Relationship Id="rId9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tags" Target="../tags/tag89.xml"/><Relationship Id="rId9" Type="http://schemas.openxmlformats.org/officeDocument/2006/relationships/tags" Target="../tags/tag90.xml"/><Relationship Id="rId10" Type="http://schemas.openxmlformats.org/officeDocument/2006/relationships/tags" Target="../tags/tag91.xml"/><Relationship Id="rId1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Relationship Id="rId10" Type="http://schemas.openxmlformats.org/officeDocument/2006/relationships/tags" Target="../tags/tag101.xml"/><Relationship Id="rId11" Type="http://schemas.openxmlformats.org/officeDocument/2006/relationships/tags" Target="../tags/tag102.xml"/><Relationship Id="rId12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03.xml"/><Relationship Id="rId2" Type="http://schemas.openxmlformats.org/officeDocument/2006/relationships/tags" Target="../tags/tag104.xml"/><Relationship Id="rId3" Type="http://schemas.openxmlformats.org/officeDocument/2006/relationships/tags" Target="../tags/tag105.xml"/><Relationship Id="rId4" Type="http://schemas.openxmlformats.org/officeDocument/2006/relationships/tags" Target="../tags/tag106.xml"/><Relationship Id="rId5" Type="http://schemas.openxmlformats.org/officeDocument/2006/relationships/tags" Target="../tags/tag107.xml"/><Relationship Id="rId6" Type="http://schemas.openxmlformats.org/officeDocument/2006/relationships/tags" Target="../tags/tag108.xml"/><Relationship Id="rId7" Type="http://schemas.openxmlformats.org/officeDocument/2006/relationships/tags" Target="../tags/tag109.xml"/><Relationship Id="rId8" Type="http://schemas.openxmlformats.org/officeDocument/2006/relationships/tags" Target="../tags/tag110.xml"/><Relationship Id="rId9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11.xml"/><Relationship Id="rId2" Type="http://schemas.openxmlformats.org/officeDocument/2006/relationships/tags" Target="../tags/tag112.xml"/><Relationship Id="rId3" Type="http://schemas.openxmlformats.org/officeDocument/2006/relationships/tags" Target="../tags/tag113.xml"/><Relationship Id="rId4" Type="http://schemas.openxmlformats.org/officeDocument/2006/relationships/tags" Target="../tags/tag114.xml"/><Relationship Id="rId5" Type="http://schemas.openxmlformats.org/officeDocument/2006/relationships/tags" Target="../tags/tag115.xml"/><Relationship Id="rId6" Type="http://schemas.openxmlformats.org/officeDocument/2006/relationships/tags" Target="../tags/tag116.xml"/><Relationship Id="rId7" Type="http://schemas.openxmlformats.org/officeDocument/2006/relationships/tags" Target="../tags/tag117.xml"/><Relationship Id="rId8" Type="http://schemas.openxmlformats.org/officeDocument/2006/relationships/tags" Target="../tags/tag118.xml"/><Relationship Id="rId9" Type="http://schemas.openxmlformats.org/officeDocument/2006/relationships/tags" Target="../tags/tag119.xml"/><Relationship Id="rId10" Type="http://schemas.openxmlformats.org/officeDocument/2006/relationships/tags" Target="../tags/tag120.xml"/><Relationship Id="rId1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12700" y="6158416"/>
            <a:ext cx="9144000" cy="240122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11" name="直线连接符 18"/>
          <p:cNvCxnSpPr/>
          <p:nvPr>
            <p:custDataLst>
              <p:tags r:id="rId2"/>
            </p:custDataLst>
          </p:nvPr>
        </p:nvCxnSpPr>
        <p:spPr>
          <a:xfrm>
            <a:off x="983042" y="3218490"/>
            <a:ext cx="608077" cy="0"/>
          </a:xfrm>
          <a:prstGeom prst="line">
            <a:avLst/>
          </a:prstGeom>
          <a:ln>
            <a:solidFill>
              <a:schemeClr val="accent3"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0"/>
          <p:cNvCxnSpPr/>
          <p:nvPr>
            <p:custDataLst>
              <p:tags r:id="rId3"/>
            </p:custDataLst>
          </p:nvPr>
        </p:nvCxnSpPr>
        <p:spPr>
          <a:xfrm>
            <a:off x="7578282" y="3218490"/>
            <a:ext cx="608077" cy="0"/>
          </a:xfrm>
          <a:prstGeom prst="line">
            <a:avLst/>
          </a:prstGeom>
          <a:ln>
            <a:solidFill>
              <a:schemeClr val="accent3"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55335" y="2854522"/>
            <a:ext cx="5433331" cy="748594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90000"/>
              </a:lnSpc>
              <a:defRPr sz="405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55335" y="5554979"/>
            <a:ext cx="5433331" cy="330793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t="269" r="208" b="269"/>
          <a:stretch>
            <a:fillRect/>
          </a:stretch>
        </p:blipFill>
        <p:spPr>
          <a:xfrm>
            <a:off x="1" y="-1"/>
            <a:ext cx="9144000" cy="6858001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-12699" y="-1"/>
            <a:ext cx="9169399" cy="6870701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35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6858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6"/>
          <p:cNvCxnSpPr/>
          <p:nvPr>
            <p:custDataLst>
              <p:tags r:id="rId1"/>
            </p:custDataLst>
          </p:nvPr>
        </p:nvCxnSpPr>
        <p:spPr>
          <a:xfrm>
            <a:off x="4307681" y="3457576"/>
            <a:ext cx="3771816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816937" y="0"/>
            <a:ext cx="31490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669087" y="2611269"/>
            <a:ext cx="1390991" cy="139099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07681" y="2466719"/>
            <a:ext cx="3771816" cy="765740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3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4307681" y="3632342"/>
            <a:ext cx="3771816" cy="34437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28650" y="2369542"/>
            <a:ext cx="3886200" cy="32635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2369542"/>
            <a:ext cx="3886200" cy="32635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1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29841" y="1847950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9841" y="3062366"/>
            <a:ext cx="3868340" cy="26805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29150" y="1847950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3062366"/>
            <a:ext cx="3887391" cy="26805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6812281"/>
            <a:ext cx="9144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0" y="657225"/>
            <a:ext cx="3123900" cy="120015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888000" y="1132650"/>
            <a:ext cx="4627800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9840" y="2533849"/>
            <a:ext cx="3123900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2025/8/19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368363" y="1091605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28650" y="1091605"/>
            <a:ext cx="6659968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28650" y="1246414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3866028" y="1644799"/>
            <a:ext cx="1390991" cy="139099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-28099" y="6025515"/>
            <a:ext cx="9184481" cy="8375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871390" y="3744328"/>
            <a:ext cx="5401220" cy="961358"/>
          </a:xfrm>
        </p:spPr>
        <p:txBody>
          <a:bodyPr>
            <a:normAutofit/>
          </a:bodyPr>
          <a:lstStyle>
            <a:lvl1pPr algn="ctr">
              <a:defRPr sz="405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3865960" y="1969691"/>
            <a:ext cx="1390650" cy="84534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1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文本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8" name="矩形 7"/>
            <p:cNvSpPr/>
            <p:nvPr userDrawn="1">
              <p:custDataLst>
                <p:tags r:id="rId7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 userDrawn="1">
              <p:custDataLst>
                <p:tags r:id="rId8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10" name="矩形 9"/>
            <p:cNvSpPr/>
            <p:nvPr userDrawn="1">
              <p:custDataLst>
                <p:tags r:id="rId9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>
              <p:custDataLst>
                <p:tags r:id="rId10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976230" y="5794585"/>
            <a:ext cx="401747" cy="650310"/>
            <a:chOff x="8382000" y="1972236"/>
            <a:chExt cx="865094" cy="1400332"/>
          </a:xfrm>
        </p:grpSpPr>
        <p:sp>
          <p:nvSpPr>
            <p:cNvPr id="12" name="矩形 11"/>
            <p:cNvSpPr/>
            <p:nvPr userDrawn="1">
              <p:custDataLst>
                <p:tags r:id="rId10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矩形 12"/>
            <p:cNvSpPr/>
            <p:nvPr userDrawn="1">
              <p:custDataLst>
                <p:tags r:id="rId11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40100" y="22756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3825900" y="1405930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59000" y="17631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59581" y="32368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8193529" y="5794585"/>
            <a:ext cx="401747" cy="650310"/>
            <a:chOff x="8382000" y="1972236"/>
            <a:chExt cx="865094" cy="1400332"/>
          </a:xfrm>
        </p:grpSpPr>
        <p:sp>
          <p:nvSpPr>
            <p:cNvPr id="11" name="矩形 10"/>
            <p:cNvSpPr/>
            <p:nvPr userDrawn="1">
              <p:custDataLst>
                <p:tags r:id="rId9"/>
              </p:custDataLst>
            </p:nvPr>
          </p:nvSpPr>
          <p:spPr>
            <a:xfrm>
              <a:off x="8610600" y="2260944"/>
              <a:ext cx="636494" cy="1111624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矩形 9"/>
            <p:cNvSpPr/>
            <p:nvPr userDrawn="1">
              <p:custDataLst>
                <p:tags r:id="rId10"/>
              </p:custDataLst>
            </p:nvPr>
          </p:nvSpPr>
          <p:spPr>
            <a:xfrm>
              <a:off x="8382000" y="1972236"/>
              <a:ext cx="636494" cy="11116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20826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3068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88451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92846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0250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9144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9108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808" y="-2073"/>
            <a:ext cx="346249" cy="114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14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1505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heme" Target="../theme/theme2.xml"/><Relationship Id="rId20" Type="http://schemas.openxmlformats.org/officeDocument/2006/relationships/tags" Target="../tags/tag1.xml"/><Relationship Id="rId21" Type="http://schemas.openxmlformats.org/officeDocument/2006/relationships/tags" Target="../tags/tag2.xml"/><Relationship Id="rId22" Type="http://schemas.openxmlformats.org/officeDocument/2006/relationships/tags" Target="../tags/tag3.xml"/><Relationship Id="rId23" Type="http://schemas.openxmlformats.org/officeDocument/2006/relationships/tags" Target="../tags/tag4.xml"/><Relationship Id="rId24" Type="http://schemas.openxmlformats.org/officeDocument/2006/relationships/tags" Target="../tags/tag5.xml"/><Relationship Id="rId25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286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38.xml"/><Relationship Id="rId2" Type="http://schemas.openxmlformats.org/officeDocument/2006/relationships/tags" Target="../tags/tag139.xml"/><Relationship Id="rId3" Type="http://schemas.openxmlformats.org/officeDocument/2006/relationships/tags" Target="../tags/tag140.xml"/><Relationship Id="rId4" Type="http://schemas.openxmlformats.org/officeDocument/2006/relationships/tags" Target="../tags/tag141.xml"/><Relationship Id="rId5" Type="http://schemas.openxmlformats.org/officeDocument/2006/relationships/tags" Target="../tags/tag142.xml"/><Relationship Id="rId6" Type="http://schemas.openxmlformats.org/officeDocument/2006/relationships/tags" Target="../tags/tag143.xml"/><Relationship Id="rId7" Type="http://schemas.openxmlformats.org/officeDocument/2006/relationships/tags" Target="../tags/tag144.xml"/><Relationship Id="rId8" Type="http://schemas.openxmlformats.org/officeDocument/2006/relationships/tags" Target="../tags/tag145.xml"/><Relationship Id="rId9" Type="http://schemas.openxmlformats.org/officeDocument/2006/relationships/tags" Target="../tags/tag146.xml"/><Relationship Id="rId10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企业AI演进的不息之道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🏗️ 四根支柱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737360" cy="1097280"/>
          </a:xfrm>
          <a:prstGeom prst="rect">
            <a:avLst/>
          </a:prstGeom>
          <a:noFill/>
          <a:ln w="19050">
            <a:solidFill>
              <a:srgbClr val="0066CC"/>
            </a:solidFill>
          </a:ln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🌐 统一入口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标准化API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屏蔽底层差异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1737360" cy="1097280"/>
          </a:xfrm>
          <a:prstGeom prst="rect">
            <a:avLst/>
          </a:prstGeom>
          <a:noFill/>
          <a:ln w="19050">
            <a:solidFill>
              <a:srgbClr val="28A745"/>
            </a:solidFill>
          </a:ln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🧠 智能路由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多维度选择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自动负载均衡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737360" cy="1097280"/>
          </a:xfrm>
          <a:prstGeom prst="rect">
            <a:avLst/>
          </a:prstGeom>
          <a:noFill/>
          <a:ln w="19050">
            <a:solidFill>
              <a:srgbClr val="FFC107"/>
            </a:solidFill>
          </a:ln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🔌 插件生态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热插拔机制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服务注册发现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1737360" cy="1097280"/>
          </a:xfrm>
          <a:prstGeom prst="rect">
            <a:avLst/>
          </a:prstGeom>
          <a:noFill/>
          <a:ln w="19050">
            <a:solidFill>
              <a:srgbClr val="DC3545"/>
            </a:solidFill>
          </a:ln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📊 监控治理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成本管控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统一运维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🔄 问题到能力转换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3840480" cy="1645920"/>
          </a:xfrm>
          <a:prstGeom prst="rect">
            <a:avLst/>
          </a:prstGeom>
          <a:noFill/>
          <a:ln w="25400">
            <a:solidFill>
              <a:srgbClr val="DC3545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❌ 现状问题</a:t>
            </a:r>
          </a:p>
          <a:p>
            <a:pPr>
              <a:defRPr sz="1600">
                <a:solidFill>
                  <a:srgbClr val="6C757D"/>
                </a:solidFill>
              </a:defRPr>
            </a:pPr>
          </a:p>
          <a:p>
            <a:pPr>
              <a:defRPr sz="1600">
                <a:solidFill>
                  <a:srgbClr val="6C757D"/>
                </a:solidFill>
              </a:defRPr>
            </a:pPr>
            <a:r>
              <a:t>• 集成复杂</a:t>
            </a:r>
          </a:p>
          <a:p>
            <a:pPr>
              <a:defRPr sz="1600">
                <a:solidFill>
                  <a:srgbClr val="6C757D"/>
                </a:solidFill>
              </a:defRPr>
            </a:pPr>
            <a:r>
              <a:t>• 治理分散</a:t>
            </a:r>
          </a:p>
          <a:p>
            <a:pPr>
              <a:defRPr sz="1600">
                <a:solidFill>
                  <a:srgbClr val="6C757D"/>
                </a:solidFill>
              </a:defRPr>
            </a:pPr>
            <a:r>
              <a:t>• 成本不可控</a:t>
            </a:r>
          </a:p>
          <a:p>
            <a:pPr>
              <a:defRPr sz="1600">
                <a:solidFill>
                  <a:srgbClr val="6C757D"/>
                </a:solidFill>
              </a:defRPr>
            </a:pPr>
            <a:r>
              <a:t>• 经验难传承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89120" y="3749039"/>
            <a:ext cx="365760" cy="731520"/>
          </a:xfrm>
          <a:prstGeom prst="rightArrow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754880"/>
            <a:ext cx="3840480" cy="1645920"/>
          </a:xfrm>
          <a:prstGeom prst="rect">
            <a:avLst/>
          </a:prstGeom>
          <a:noFill/>
          <a:ln w="25400">
            <a:solidFill>
              <a:srgbClr val="28A745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✅ 解决方案</a:t>
            </a:r>
          </a:p>
          <a:p>
            <a:pPr>
              <a:defRPr sz="1600">
                <a:solidFill>
                  <a:srgbClr val="28A745"/>
                </a:solidFill>
              </a:defRPr>
            </a:pPr>
          </a:p>
          <a:p>
            <a:pPr>
              <a:defRPr sz="1600">
                <a:solidFill>
                  <a:srgbClr val="28A745"/>
                </a:solidFill>
              </a:defRPr>
            </a:pPr>
            <a:r>
              <a:t>• 标准化接入</a:t>
            </a:r>
          </a:p>
          <a:p>
            <a:pPr>
              <a:defRPr sz="1600">
                <a:solidFill>
                  <a:srgbClr val="28A745"/>
                </a:solidFill>
              </a:defRPr>
            </a:pPr>
            <a:r>
              <a:t>• 智能化调度</a:t>
            </a:r>
          </a:p>
          <a:p>
            <a:pPr>
              <a:defRPr sz="1600">
                <a:solidFill>
                  <a:srgbClr val="28A745"/>
                </a:solidFill>
              </a:defRPr>
            </a:pPr>
            <a:r>
              <a:t>• 可观可管</a:t>
            </a:r>
          </a:p>
          <a:p>
            <a:pPr>
              <a:defRPr sz="1600">
                <a:solidFill>
                  <a:srgbClr val="28A745"/>
                </a:solidFill>
              </a:defRPr>
            </a:pPr>
            <a:r>
              <a:t>• 资产可沉淀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00"/>
                </a:solidFill>
              </a:defRPr>
            </a:pPr>
            <a:r>
              <a:t>💡 核心理念：AICoreNexus用四根支柱构建企业AI的"总线与中枢"，实现从问题到能力的根本转变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9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5107_1"/>
  <p:tag name="KSO_WM_TEMPLATE_CATEGORY" val="custom"/>
  <p:tag name="KSO_WM_TEMPLATE_INDEX" val="20188997"/>
  <p:tag name="KSO_WM_TEMPLATE_SUBCATEGORY" val="combine"/>
  <p:tag name="KSO_WM_TEMPLATE_THUMBS_INDEX" val="1、2、3、4、6、8、10、12、13、14"/>
  <p:tag name="KSO_WM_TEMPLATE_MASTER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2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3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frame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4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leftRight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5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7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8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636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636"/>
  <p:tag name="KSO_WM_SLIDE_TYPE" val="text"/>
  <p:tag name="KSO_WM_SLIDE_SUBTYPE" val="diag"/>
  <p:tag name="KSO_WM_SLIDE_SIZE" val="850.394*351.675"/>
  <p:tag name="KSO_WM_SLIDE_POSITION" val="54.8031*136.966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1636_3*a*1"/>
  <p:tag name="KSO_WM_TEMPLATE_CATEGORY" val="diagram"/>
  <p:tag name="KSO_WM_TEMPLATE_INDEX" val="20231636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1636_1*n_h_h_f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DIAGRAM_VERSION" val="3"/>
  <p:tag name="KSO_WM_UNIT_SUBTYPE" val="a"/>
  <p:tag name="KSO_WM_UNIT_NOCLEAR" val="0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4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1636_1*n_h_h_f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4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1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COLOR_TRICK" val="1"/>
  <p:tag name="KSO_WM_DIAGRAM_COLOR_TEXT_CAN_REMOVE" val="n"/>
  <p:tag name="KSO_WM_DIAGRAM_GROUP_CODE" val="n1-1"/>
  <p:tag name="KSO_WM_DIAGRAM_VERSION" val="3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1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COLOR_TRICK" val="1"/>
  <p:tag name="KSO_WM_DIAGRAM_COLOR_TEXT_CAN_REMOVE" val="n"/>
  <p:tag name="KSO_WM_DIAGRAM_GROUP_CODE" val="n1-1"/>
  <p:tag name="KSO_WM_DIAGRAM_VERSION" val="3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1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1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62.71756003319473,&quot;left&quot;:41.10230314960626,&quot;top&quot;:170.7434936054499,&quot;width&quot;:637.795334645669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5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  <p:tag name="KSO_WM_SLIDE_BK_DARK_LIGHT" val="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2071D3"/>
      </a:accent1>
      <a:accent2>
        <a:srgbClr val="1C69BD"/>
      </a:accent2>
      <a:accent3>
        <a:srgbClr val="1862A7"/>
      </a:accent3>
      <a:accent4>
        <a:srgbClr val="287583"/>
      </a:accent4>
      <a:accent5>
        <a:srgbClr val="4DA452"/>
      </a:accent5>
      <a:accent6>
        <a:srgbClr val="71D320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</Words>
  <Application>Microsoft Office PowerPoint</Application>
  <PresentationFormat>全屏显示(4:3)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Office Theme</vt:lpstr>
      <vt:lpstr>1_Office 主题​​</vt:lpstr>
      <vt:lpstr>总  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ZhangZib1</dc:creator>
  <dc:description>generated using python-pptx</dc:description>
  <cp:lastModifiedBy>荣 马</cp:lastModifiedBy>
  <cp:revision>38</cp:revision>
  <cp:lastPrinted>2025-08-19T03:11:00Z</cp:lastPrinted>
  <dcterms:created xsi:type="dcterms:W3CDTF">2013-01-27T09:14:00Z</dcterms:created>
  <dcterms:modified xsi:type="dcterms:W3CDTF">2025-08-19T11:14:58Z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7678AC432A464AFC8DFEDE330A39CBF2_13</vt:lpwstr>
  </property>
  <property fmtid="{D5CDD505-2E9C-101B-9397-08002B2CF9AE}" pid="3" name="KSOProductBuildVer">
    <vt:lpwstr>2052-12.1.0.22529</vt:lpwstr>
  </property>
</Properties>
</file>